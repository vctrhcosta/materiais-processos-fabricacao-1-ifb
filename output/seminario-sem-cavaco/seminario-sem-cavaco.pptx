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1148" cy="10469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1028700"/>
            <a:ext cx="41148" cy="10469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0" y="2057400"/>
            <a:ext cx="41148" cy="10469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3086100"/>
            <a:ext cx="41148" cy="10469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4114800"/>
            <a:ext cx="41148" cy="10469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 |  Tecnologia em Design de Produto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sem remoção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cavaco na indústria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tintas e pigmentos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Embalagens, pigmentos e revestimentos em pó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 Processos de Fabricação II — 2026/1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Hugo da Silva Costa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Profª. Keila Sanches  ·  IFB — Samambaia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365760"/>
            <a:ext cx="3657600" cy="4389120"/>
          </a:xfrm>
          <a:prstGeom prst="rect">
            <a:avLst/>
          </a:prstGeom>
          <a:solidFill>
            <a:srgbClr val="F7F8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[Imagem: extrusor de rosca dupla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linha de estampagem de latas]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822960"/>
            <a:ext cx="41148" cy="7040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1517904"/>
            <a:ext cx="41148" cy="7040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2212848"/>
            <a:ext cx="41148" cy="704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907792"/>
            <a:ext cx="41148" cy="7040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3602736"/>
            <a:ext cx="41148" cy="7040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321040" cy="1353312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03120"/>
                <a:gridCol w="26517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Seminário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Seminário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Seminário 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Usinagem convencional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Usinagem não convencional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remoção de cavaco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 com a tinta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Indireta — fabrica os equipamentos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Direta em alguns casos (PLAL, plasma)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Direta — fabrica a tinta, o pigmento ou a embalagem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Distância ao produto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Mínima ou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480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seminário, chegamos mais perto do produto final. Este é o mais próximo.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822960"/>
            <a:ext cx="41148" cy="7040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1517904"/>
            <a:ext cx="41148" cy="7040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2212848"/>
            <a:ext cx="41148" cy="704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907792"/>
            <a:ext cx="41148" cy="7040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3602736"/>
            <a:ext cx="41148" cy="7040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conceitual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classificação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78992"/>
            <a:ext cx="83210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115568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em que a forma final é obtida sem retirada de material com formação de cavaco sólido. O volume é conservado: o material é conformado, densificado, fundido ou unido.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8321040" cy="1691640"/>
        </p:xfrm>
        <a:graphic>
          <a:graphicData uri="http://schemas.openxmlformats.org/drawingml/2006/table">
            <a:tbl>
              <a:tblPr/>
              <a:tblGrid>
                <a:gridCol w="2560320"/>
                <a:gridCol w="57607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Vazamento em molde por solidificação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Conformação mecânica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Laminação, trefilação, forjamento, estampagem, extrusão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Soldagem por fusão ou pressão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Injeção e sopro de polímeros, metalurgia do pó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4480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central: a usinagem remove. Os processos sem cavaco redistribuem ou densificam.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analítica do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central — Duas camadas, dois papéis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78992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0" y="1078992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Produto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Extrusão em rosca dupla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Metalurgia do pó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 a tinta ou o pigmento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639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físico-químicos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Embalagem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Laminação a frio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Estampagem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 polímeros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Sopro por extrusão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 o recipiente que contém a tinta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639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mecânicos e de barreira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família de processos atua em duas frentes distintas na cadeia.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822960"/>
            <a:ext cx="41148" cy="7040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1517904"/>
            <a:ext cx="41148" cy="7040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2212848"/>
            <a:ext cx="41148" cy="704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907792"/>
            <a:ext cx="41148" cy="7040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3602736"/>
            <a:ext cx="41148" cy="7040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produto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Extrusão em rosca dupla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241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produto da cadeia de tintas cuja fabricação é integralmente conformação mecânica. Sem fase líquida. Sem solvente. Sem etapa química separada.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600200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367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Pesagem e mistura seca  (resina + pigmento + agente de cura + aditivos)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21408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579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Extrusor dupla rosca co-rotante  80–130 °C  |  50–200 bar  |  cisalhamento intenso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42616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79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resfriada  →  chips quebradiços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163824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00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Moagem (Alpine ACM)  →  D50: 35–45 μm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685032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216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ciclone  →  pó final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1600200"/>
            <a:ext cx="3840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6642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Masterbatch de pigmentos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1993392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Concentrado 40–65% em peso em resina carreadora (PE/PP/EVA), produzido no mesmo tipo de equipamento a 190–250 °C.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masterbatch que define a cor dos baldes — não o fabricante da embalagem.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4480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do mercado global de tintas industriais. Zero COV.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822960"/>
            <a:ext cx="41148" cy="7040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1517904"/>
            <a:ext cx="41148" cy="7040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2212848"/>
            <a:ext cx="41148" cy="704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907792"/>
            <a:ext cx="41148" cy="7040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3602736"/>
            <a:ext cx="41148" cy="7040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produto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Metalurgia do pó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24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que fabrica o próprio ingrediente da formulação.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4447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Flocos de alumínio — 2 estágios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75564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Atomização por gás inerte (N₂/Ar): alumínio líquido → pó esférico 5–150 μm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Moagem em bolas + ácido esteárico → flocos 0,1–0,5 μm espessura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33472"/>
          <a:ext cx="4114800" cy="1014984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9202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Paralela à superfície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Barreira contínua → anticorrosão, resistência ao calor (até 600 °C)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Non-leafing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metalizado → automotivo, decorativo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892040" y="14447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 de zinco — destilação e condensação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92040" y="1755648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1810512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Zinco vaporizado a ~907 °C → partículas esféricas 2–10 μm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Primers ricos em zinco: 65–95% Zn em volume no filme seco (SSPC Paint 20)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catódica: o zinco oxida no lugar do aço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4480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morfologia determina a função. Dois pigmentos de alumínio idênticos em composição podem proteger ou decorar — dependendo de como se orientam.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822960"/>
            <a:ext cx="41148" cy="7040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1517904"/>
            <a:ext cx="41148" cy="7040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2212848"/>
            <a:ext cx="41148" cy="704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907792"/>
            <a:ext cx="41148" cy="7040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3602736"/>
            <a:ext cx="41148" cy="7040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embalagem (metálica)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Laminação e estampagem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241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Laminação a frio → folha-de-flandres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 AISI 1006–1010 laminado até 0,14–0,49 mm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Encruamento: resistência 370–460 MPa  |  Ra &lt; 0,5 μm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Revestimento eletrolítico de estanho (1,1–11,2 g/m²): barreira + lubrificante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no Brasil: ArcelorMittal / Usiminas → Colep Brasil, Metalflex → Sherwin-Williams, PPG, Coral, Suvinil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Estampagem → lata de tinta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71600"/>
          <a:ext cx="3931920" cy="169164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Corta disco circular da tira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Repuxo profundo (DRD)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corpo cilíndrico em 2–3 estágios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DWI (aerossol)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Estica a parede de 0,35 mm → 0,09–0,12 mm sem costura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Flangeamento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para dupla costura (double seaming)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4480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costura é a única junta mecânica da lata. Precisa ser estanque para conter solventes voláteis e impedir skinning.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822960"/>
            <a:ext cx="41148" cy="7040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1517904"/>
            <a:ext cx="41148" cy="7040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2212848"/>
            <a:ext cx="41148" cy="704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907792"/>
            <a:ext cx="41148" cy="7040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3602736"/>
            <a:ext cx="41148" cy="7040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embalagem (plástica)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e sopro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241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→ baldes e tampas  (60–65% do volume de embalagens de tinta no Brasil)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321040" cy="1014984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42976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copolímero (PP-C)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Baldes 3,6 L e 18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7–10 (tinta base água), resistência ao impacto, ciclo 15–25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PEAD grau embalagem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Galões solvente 1–5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Resistência a aromáticos (tolueno, xileno) até 60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24505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Sopro por extrusão (EBM) → galões e tambores sem emenda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788920"/>
            <a:ext cx="8321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Parison extrudado → molde fecha → ar comprimido 5–10 bar → expande contra o molde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PEAD grau sopro: MFI 0,1–0,3 g/10 min (alta resistência ao sag do parison)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 5 camadas: PEAD externo/interno + EVOH central → barreira 2–3 ordens de grandeza para acetato de etila e metanol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Tambores 60–200 L: aprovação UN para líquidos perigosos classe 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480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define forma + tampas + estética. Sopro define estanqueidade + barreira química.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822960"/>
            <a:ext cx="41148" cy="7040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1517904"/>
            <a:ext cx="41148" cy="7040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2212848"/>
            <a:ext cx="41148" cy="704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907792"/>
            <a:ext cx="41148" cy="7040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3602736"/>
            <a:ext cx="41148" cy="7040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— A progressão dos três seminários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78992"/>
          <a:ext cx="8321040" cy="1353312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5661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Seminário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 com o produto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Usinagem Convencional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Torneamento, fresamento, retificação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Fabricam os equipamentos — não tocam a tinta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Usinagem Não Convencional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Laser, plasma, EDM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Majoritariamente em equipamentos; algumas inserções diretas (PLAL, plasma de pigmentos)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Cavaco (este trabalho)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Extrusão, metalurgia do pó, estampagem, injeção, sopro, laminação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Fabricam diretamente a tinta, o pigmento ou a embalagem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3154680"/>
            <a:ext cx="8321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2186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49300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com cavaco partem de peça sólida → produzem componentes e equipamentos. Processos sem cavaco partem de pó, fundido ou polímero fluido → resultado é o produto ou o recipiente. Essa natureza os aproxima dos processos químicos que são o núcleo da cadeia de tintas.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822960"/>
            <a:ext cx="41148" cy="7040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1517904"/>
            <a:ext cx="41148" cy="7040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2212848"/>
            <a:ext cx="41148" cy="704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907792"/>
            <a:ext cx="41148" cy="7040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3602736"/>
            <a:ext cx="41148" cy="7040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interface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da tinta em pó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241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extrusor de rosca dupla faz as três coisas ao mesmo tempo: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8321040" cy="1353312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26517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na produção de tinta líquida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Equipamento específico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tinta em pó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Dispersão de pigmento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Moinho de pérolas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Extrusor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Mistura de componentes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Misturador de dois componentes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Extrusor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Conformação do produto 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Estampagem (embalagem)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Extrusor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02920" y="3063240"/>
            <a:ext cx="8321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127248"/>
            <a:ext cx="7955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equipamento substitui o moinho, o misturador e o conformador. O extrusor não processa uma formulação já pronta — ele é a própria formulação.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Provavelmente o equipamento com maior densidade funcional por metro cúbico em toda a cadeia estudada nos três seminários.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822960"/>
            <a:ext cx="41148" cy="704088"/>
          </a:xfrm>
          <a:prstGeom prst="rect">
            <a:avLst/>
          </a:prstGeom>
          <a:solidFill>
            <a:srgbClr val="EBD8FF"/>
          </a:solidFill>
          <a:ln w="12700">
            <a:solidFill>
              <a:srgbClr val="EB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1517904"/>
            <a:ext cx="41148" cy="7040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2212848"/>
            <a:ext cx="41148" cy="704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907792"/>
            <a:ext cx="41148" cy="7040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3602736"/>
            <a:ext cx="41148" cy="7040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— 3 pontos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78992"/>
            <a:ext cx="8321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143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11430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processos sem cavaco chegam ao núcleo do produto.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141732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Extrusão fabrica a tinta em pó. Metalurgia do pó sintetiza os pigmentos metálicos. Laminação, estampagem, injeção e sopro fabricam cada embalagem que o usuário segura.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103120"/>
            <a:ext cx="8321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67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21671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conjuntos de critérios, dois papéis distintos.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44144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camada de produto, os parâmetros são físico-químicos (morfologia, pureza, crosslinking). Na camada de embalagem, são mecânicos e regulatórios (estanqueidade, resistência química, testes UN).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8321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191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319125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indústria de tintas vista em três seminários.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465576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Usinagem convencional garante precisão dos equipamentos. Métodos não convencionais intervêm na síntese e preparação de superfícies. Processos sem cavaco fabricam a tinta, o pigmento e a embalagem.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6634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fabricação mecânica e a química de tintas não são mundos separados. São a mesma cadeia.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GROOVER, M. P. Fundamentals of Modern Manufacturing. 5. ed. Wiley, 2013.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KALPAKJIAN, S.; SCHMID, S. R. Manufacturing Engineering and Technology. 7. ed. Pearson, 2014.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MISEV, T. A.; VAN DER LINDE, R. Powder coatings, the future technology. Progress in Organic Coatings, v. 34, 1998.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478024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SMITH, W. F. Foundations of Materials Science and Engineering. 3. ed. McGraw-Hill, 2002.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96265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HARE, C. H. Zinc-rich coatings: organic versus inorganic. Journal of Protective Coatings and Linings, v. 17, n. 4, 2000.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44728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HANLON, J. F.; KELSEY, R. J.; FORCINIO, H. E. Handbook of Package Engineering. 3. ed. CRC Press, 1998.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ABRAFATI. Relatório setorial 2024. São Paulo, 2024.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41655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SSPC Paint 20: Zinc-rich coating (Type I — Inorganic and Type II — Organic). Pittsburgh: SSPC, 2019.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Processos sem remoção de cavaco na indústria de tintas e pigmentos</dc:title>
  <dc:subject>PptxGenJS Presentation</dc:subject>
  <dc:creator>Victor Hugo da Silva Costa</dc:creator>
  <cp:lastModifiedBy>Victor Hugo da Silva Costa</cp:lastModifiedBy>
  <cp:revision>1</cp:revision>
  <dcterms:created xsi:type="dcterms:W3CDTF">2026-05-26T16:10:37Z</dcterms:created>
  <dcterms:modified xsi:type="dcterms:W3CDTF">2026-05-26T16:10:37Z</dcterms:modified>
</cp:coreProperties>
</file>