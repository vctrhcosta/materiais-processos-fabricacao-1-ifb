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0" y="137160"/>
            <a:ext cx="438912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8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</a:t>
            </a:r>
            <a:endParaRPr lang="en-US" sz="9800" dirty="0"/>
          </a:p>
          <a:p>
            <a:pPr algn="ctr" indent="0" marL="0">
              <a:buNone/>
            </a:pPr>
            <a:r>
              <a:rPr lang="en-US" sz="98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CAVACO</a:t>
            </a:r>
            <a:endParaRPr lang="en-US" sz="9800" dirty="0"/>
          </a:p>
        </p:txBody>
      </p:sp>
      <p:sp>
        <p:nvSpPr>
          <p:cNvPr id="3" name="Text 1"/>
          <p:cNvSpPr/>
          <p:nvPr/>
        </p:nvSpPr>
        <p:spPr>
          <a:xfrm>
            <a:off x="457200" y="34747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IFB  ·  Tecnologia em Design de Produto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76656"/>
            <a:ext cx="137160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86384"/>
            <a:ext cx="448056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Processos sem remoção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cavaco na indústria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tintas e pigmentos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331012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Embalagens, pigmentos e revestimentos em pó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986784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Materiais e Processos de Fabricação II  —  2026/1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4224528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 Hugo da Silva Costa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446227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Profª. Keila Sanches  ·  IFB — Campus Samambaia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5544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12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57200" y="274320"/>
            <a:ext cx="2286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21208" y="256032"/>
            <a:ext cx="8257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CONTEXTUALIZAÇÃO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de partida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133856"/>
            <a:ext cx="8321040" cy="0"/>
          </a:xfrm>
          <a:prstGeom prst="line">
            <a:avLst/>
          </a:prstGeom>
          <a:noFill/>
          <a:ln w="9525">
            <a:solidFill>
              <a:srgbClr val="E4E4E7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61872"/>
          <a:ext cx="8321040" cy="1389888"/>
        </p:xfrm>
        <a:graphic>
          <a:graphicData uri="http://schemas.openxmlformats.org/drawingml/2006/table">
            <a:tbl>
              <a:tblPr/>
              <a:tblGrid>
                <a:gridCol w="1463040"/>
                <a:gridCol w="2103120"/>
                <a:gridCol w="2103120"/>
                <a:gridCol w="26517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818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Seminário 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818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Seminário II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818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Seminário III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Usinagem convencional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Usinagem não convencional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remoção de cavaco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Relação com a tinta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Indireta — fabrica os equipamentos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Direta em alguns casos (PLAL, plasma)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Direta — fabrica a tinta, o pigmento ou a embalagem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Distância ao produto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Mínima ou zero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4617720"/>
            <a:ext cx="2286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626864"/>
            <a:ext cx="8211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cada seminário, chegamos mais perto do produto final. Este é o mais próximo.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5544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12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57200" y="274320"/>
            <a:ext cx="2286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21208" y="256032"/>
            <a:ext cx="8257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CONCEITUAL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e classificação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133856"/>
            <a:ext cx="8321040" cy="0"/>
          </a:xfrm>
          <a:prstGeom prst="line">
            <a:avLst/>
          </a:prstGeom>
          <a:noFill/>
          <a:ln w="9525">
            <a:solidFill>
              <a:srgbClr val="E4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61872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Processos em que a forma final é obtida sem retirada de material com formação de cavaco sólido. O volume é conservado: o material é conformado, densificado, fundido ou unido.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8321040" cy="1737360"/>
        </p:xfrm>
        <a:graphic>
          <a:graphicData uri="http://schemas.openxmlformats.org/drawingml/2006/table">
            <a:tbl>
              <a:tblPr/>
              <a:tblGrid>
                <a:gridCol w="2560320"/>
                <a:gridCol w="57607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818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Grupo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818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Fundição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Vazamento em molde por solidificação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Conformação mecânica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Laminação, trefilação, forjamento, estampagem, extrusão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Soldagem por fusão ou pressão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Outros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Injeção e sopro de polímeros, metalurgia do pó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4617720"/>
            <a:ext cx="2286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4626864"/>
            <a:ext cx="8211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Diferença central: a usinagem remove. Os processos sem cavaco redistribuem ou densificam.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5544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12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57200" y="274320"/>
            <a:ext cx="2286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21208" y="256032"/>
            <a:ext cx="8257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ANALÍTICA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Hipótese central — Duas camadas, dois papéis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133856"/>
            <a:ext cx="8321040" cy="0"/>
          </a:xfrm>
          <a:prstGeom prst="line">
            <a:avLst/>
          </a:prstGeom>
          <a:noFill/>
          <a:ln w="9525">
            <a:solidFill>
              <a:srgbClr val="E4E4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73168" y="1243584"/>
            <a:ext cx="0" cy="3182112"/>
          </a:xfrm>
          <a:prstGeom prst="line">
            <a:avLst/>
          </a:prstGeom>
          <a:noFill/>
          <a:ln w="9525">
            <a:solidFill>
              <a:srgbClr val="E4E4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6187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DE PRODUTO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709928"/>
            <a:ext cx="22860" cy="164592"/>
          </a:xfrm>
          <a:prstGeom prst="rect">
            <a:avLst/>
          </a:prstGeom>
          <a:solidFill>
            <a:srgbClr val="E4E4E7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68249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Extrusão em rosca dupla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185416"/>
            <a:ext cx="22860" cy="164592"/>
          </a:xfrm>
          <a:prstGeom prst="rect">
            <a:avLst/>
          </a:prstGeom>
          <a:solidFill>
            <a:srgbClr val="E4E4E7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15798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Metalurgia do pó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21868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 a tinta ou o pigmento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349300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Parâmetros físico-químicos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56048" y="126187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DE EMBALAGEM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956048" y="1709928"/>
            <a:ext cx="22860" cy="164592"/>
          </a:xfrm>
          <a:prstGeom prst="rect">
            <a:avLst/>
          </a:prstGeom>
          <a:solidFill>
            <a:srgbClr val="E4E4E7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65776" y="168249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Laminação a frio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956048" y="2185416"/>
            <a:ext cx="22860" cy="164592"/>
          </a:xfrm>
          <a:prstGeom prst="rect">
            <a:avLst/>
          </a:prstGeom>
          <a:solidFill>
            <a:srgbClr val="E4E4E7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15798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Estampagem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956048" y="2660904"/>
            <a:ext cx="22860" cy="164592"/>
          </a:xfrm>
          <a:prstGeom prst="rect">
            <a:avLst/>
          </a:prstGeom>
          <a:solidFill>
            <a:srgbClr val="E4E4E7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65776" y="26334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Injeção de polímeros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956048" y="3136392"/>
            <a:ext cx="22860" cy="164592"/>
          </a:xfrm>
          <a:prstGeom prst="rect">
            <a:avLst/>
          </a:prstGeom>
          <a:solidFill>
            <a:srgbClr val="E4E4E7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65776" y="3108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Sopro por extrusão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56048" y="321868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 o recipiente que contém a tinta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956048" y="349300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Parâmetros mecânicos e de barreira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617720"/>
            <a:ext cx="2286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4626864"/>
            <a:ext cx="8211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mesma família de processos atua em duas frentes distintas na cadeia.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5544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12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57200" y="274320"/>
            <a:ext cx="2286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21208" y="256032"/>
            <a:ext cx="8257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DE PRODUTO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Extrusão em rosca dupla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133856"/>
            <a:ext cx="8321040" cy="0"/>
          </a:xfrm>
          <a:prstGeom prst="line">
            <a:avLst/>
          </a:prstGeom>
          <a:noFill/>
          <a:ln w="9525">
            <a:solidFill>
              <a:srgbClr val="E4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61872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único produto da cadeia de tintas cuja fabricação é integralmente conformação mecânica — sem fase líquida, sem solvente, sem etapa química separada.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1801368"/>
            <a:ext cx="256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86384" y="1801368"/>
            <a:ext cx="3858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Pesagem e mistura seca  (resina + pigmento + agente de cura + aditivos)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286000"/>
            <a:ext cx="256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86384" y="2286000"/>
            <a:ext cx="3858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Extrusor dupla rosca co-rotante  ·  80–130°C  |  50–200 bar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2770632"/>
            <a:ext cx="256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86384" y="2770632"/>
            <a:ext cx="3858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Fita resfriada  →  chips quebração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3255264"/>
            <a:ext cx="256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86384" y="3255264"/>
            <a:ext cx="3858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Moagem (Alpine ACM)  →  D50: 35–45 μm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3739896"/>
            <a:ext cx="256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86384" y="3739896"/>
            <a:ext cx="3858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 por ciclone  →  pó final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73168" y="1737360"/>
            <a:ext cx="0" cy="2487168"/>
          </a:xfrm>
          <a:prstGeom prst="line">
            <a:avLst/>
          </a:prstGeom>
          <a:noFill/>
          <a:ln w="9525">
            <a:solidFill>
              <a:srgbClr val="E4E4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56048" y="17373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MASTERBATCH DE PIGMENTOS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956048" y="2029968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Concentrado 40–65% em peso em resina carreadora (PE/PP/EVA), produzido no mesmo tipo de equipamento a 190–250°C.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56048" y="2761488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masterbatch que define a cor dos baldes — não o fabricante da embalagem.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56048" y="33832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~15% do mercado global de tintas industriais  ·  Zero COV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4617720"/>
            <a:ext cx="2286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4626864"/>
            <a:ext cx="8211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extrusor não processa uma formulação já pronta — ele é a própria formulação.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5544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12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57200" y="274320"/>
            <a:ext cx="2286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21208" y="256032"/>
            <a:ext cx="8257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DE PRODUTO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Metalurgia do pó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133856"/>
            <a:ext cx="8321040" cy="0"/>
          </a:xfrm>
          <a:prstGeom prst="line">
            <a:avLst/>
          </a:prstGeom>
          <a:noFill/>
          <a:ln w="9525">
            <a:solidFill>
              <a:srgbClr val="E4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61872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processo que fabrica o próprio ingrediente da formulação.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FLOCOS DE ALUMÍNIO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920240"/>
            <a:ext cx="4114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Atomização por gás inerte (N₂/Ar): alumínio líquido → pó esférico 5–150 μm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Moagem em bolas + ácido esteárico → flocos 0,1–0,5 μm espessura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761488"/>
          <a:ext cx="4114800" cy="1042416"/>
        </p:xfrm>
        <a:graphic>
          <a:graphicData uri="http://schemas.openxmlformats.org/drawingml/2006/table">
            <a:tbl>
              <a:tblPr/>
              <a:tblGrid>
                <a:gridCol w="914400"/>
                <a:gridCol w="1280160"/>
                <a:gridCol w="192024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818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818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Orientação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818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Função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Leafing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Paralela à superfície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Barreira contínua → anticorrosão, até 600°C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Non-leafing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Aleatória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Efeito metalizado → automotivo, decorativo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773168" y="1609344"/>
            <a:ext cx="0" cy="2340864"/>
          </a:xfrm>
          <a:prstGeom prst="line">
            <a:avLst/>
          </a:prstGeom>
          <a:noFill/>
          <a:ln w="9525">
            <a:solidFill>
              <a:srgbClr val="E4E4E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56048" y="16459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 DE ZINCO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956048" y="19202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Destilação e condensação: zinco vaporizado a ~907°C → partículas esféricas 2–10 μm.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956048" y="248716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Primers ricos em zinco: 65–95% Zn em volume no filme seco (SSPC Paint 20).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956048" y="305409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Proteção catódica: o zinco oxida no lugar do aço.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7200" y="4617720"/>
            <a:ext cx="2286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6928" y="4626864"/>
            <a:ext cx="8211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morfologia determina a função. Dois pigmentos idênticos em composição podem proteger ou decorar — dependendo de como se orientam.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5544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12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57200" y="274320"/>
            <a:ext cx="2286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21208" y="256032"/>
            <a:ext cx="8257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DE EMBALAGEM — METÁLICA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Laminação e estampagem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133856"/>
            <a:ext cx="8321040" cy="0"/>
          </a:xfrm>
          <a:prstGeom prst="line">
            <a:avLst/>
          </a:prstGeom>
          <a:noFill/>
          <a:ln w="9525">
            <a:solidFill>
              <a:srgbClr val="E4E4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73168" y="1225296"/>
            <a:ext cx="0" cy="3200400"/>
          </a:xfrm>
          <a:prstGeom prst="line">
            <a:avLst/>
          </a:prstGeom>
          <a:noFill/>
          <a:ln w="9525">
            <a:solidFill>
              <a:srgbClr val="E4E4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6187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LAMINAÇÃO A FRIO → FOLHA-DE-FLANDRES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554480"/>
            <a:ext cx="4114800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Aço AISI 1006–1010 laminado até 0,14–0,49 mm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Encruamento: resistência 370–460 MPa  |  Ra &lt; 0,5 μm (adesão do verniz)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Revestimento eletrolítico de estanho (1,1–11,2 g/m²): barreira + lubrificante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Cadeia no Brasil: ArcelorMittal / Usiminas → Colep Brasil, Metalflex → Sherwin-Williams, PPG, Coral, Suvinil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56048" y="126187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ESTAMPAGEM → LATA DE TINTA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56048" y="1554480"/>
          <a:ext cx="3840480" cy="1737360"/>
        </p:xfrm>
        <a:graphic>
          <a:graphicData uri="http://schemas.openxmlformats.org/drawingml/2006/table">
            <a:tbl>
              <a:tblPr/>
              <a:tblGrid>
                <a:gridCol w="1645920"/>
                <a:gridCol w="21945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818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Operação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818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faz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Blanking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Corta disco circular da tira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Repuxo profundo (DRD)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 corpo cilíndrico em 2–3 estágios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DWI (aerossol)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Estica a parede de 0,35 mm → 0,09–0,12 mm sem costura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Flangeamento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Borda para dupla costura (double seaming)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457200" y="4617720"/>
            <a:ext cx="2286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6928" y="4626864"/>
            <a:ext cx="8211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costura é a única junta mecânica da lata. Precisa ser estanque para conter solventes voláteis e impedir skinning.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5544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12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57200" y="274320"/>
            <a:ext cx="2286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21208" y="256032"/>
            <a:ext cx="8257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DE EMBALAGEM — PLÁSTICA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Injeção e sopro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133856"/>
            <a:ext cx="8321040" cy="0"/>
          </a:xfrm>
          <a:prstGeom prst="line">
            <a:avLst/>
          </a:prstGeom>
          <a:noFill/>
          <a:ln w="9525">
            <a:solidFill>
              <a:srgbClr val="E4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6187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INJEÇÃO → BALDES E TAMPAS  (60–65% DO VOLUME DE EMBALAGENS DE TINTA NO BRASIL)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321040" cy="1042416"/>
        </p:xfrm>
        <a:graphic>
          <a:graphicData uri="http://schemas.openxmlformats.org/drawingml/2006/table">
            <a:tbl>
              <a:tblPr/>
              <a:tblGrid>
                <a:gridCol w="1920240"/>
                <a:gridCol w="2103120"/>
                <a:gridCol w="42976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818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Material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818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Aplicação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818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quê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 copolímero (PP-C)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Baldes 3,6 L e 18 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 7–10 (tinta base água), resistência ao impacto, ciclo 15–25 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PEAD grau embalagem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Galões solvente 1–5 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Resistência a aromáticos (tolueno, xileno) até 60°C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2542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SOPRO POR EXTRUSÃO (EBM) → GALÕES E TAMBORES SEM EMENDA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57200" y="2834640"/>
            <a:ext cx="832104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Parison extrudado → molde fecha → ar comprimido 5–10 bar → expande contra o molde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PEAD grau sopro: MFI 0,1–0,3 g/10 min (alta resistência ao sag do parison)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COEX 5 camadas: PEAD externo/interno + EVOH central → barreira 2–3 ordens de grandeza para acetato de etila e metanol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Tambores 60–200 L: aprovação UN para líquidos perigosos classe 3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4617720"/>
            <a:ext cx="2286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6928" y="4626864"/>
            <a:ext cx="8211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Injeção define forma + tampas + estética. Sopro define estanqueidade + barreira química.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5544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12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57200" y="274320"/>
            <a:ext cx="2286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21208" y="256032"/>
            <a:ext cx="8257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 — A progressão dos três seminários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133856"/>
            <a:ext cx="8321040" cy="0"/>
          </a:xfrm>
          <a:prstGeom prst="line">
            <a:avLst/>
          </a:prstGeom>
          <a:noFill/>
          <a:ln w="9525">
            <a:solidFill>
              <a:srgbClr val="E4E4E7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61872"/>
          <a:ext cx="8321040" cy="1389888"/>
        </p:xfrm>
        <a:graphic>
          <a:graphicData uri="http://schemas.openxmlformats.org/drawingml/2006/table">
            <a:tbl>
              <a:tblPr/>
              <a:tblGrid>
                <a:gridCol w="2103120"/>
                <a:gridCol w="2651760"/>
                <a:gridCol w="35661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818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Seminário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818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818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Relação com o produto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Usinagem Convencional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Torneamento, fresamento, retificação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Fabricam os equipamentos — não tocam a tinta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Usinagem Não Convencional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Laser, plasma, EDM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Majoritariamente em equipamentos; algumas inserções diretas (PLAL, plasma de pigmentos)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Cavaco (este trabalho)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Extrusão, metalurgia do pó, estampagem, injeção, sopro, laminação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Fabricam diretamente a tinta, o pigmento ou a embalagem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312724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 essa diferença?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3456432"/>
            <a:ext cx="83210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Processos com cavaco partem de peça sólida → produzem componentes e equipamentos. Processos sem cavaco partem de pó, fundido ou polímero fluido → resultado é o produto ou o recipiente. Essa natureza os aproxima dos processos químicos que são o núcleo da cadeia de tintas.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5544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57200" y="274320"/>
            <a:ext cx="2286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21208" y="256032"/>
            <a:ext cx="8257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INTERFACE — SLIDE-CHAVE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caso da tinta em pó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133856"/>
            <a:ext cx="8321040" cy="0"/>
          </a:xfrm>
          <a:prstGeom prst="line">
            <a:avLst/>
          </a:prstGeom>
          <a:noFill/>
          <a:ln w="9525">
            <a:solidFill>
              <a:srgbClr val="E4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61872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extrusor de rosca dupla faz as três coisas ao mesmo tempo: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27632"/>
          <a:ext cx="8321040" cy="1389888"/>
        </p:xfrm>
        <a:graphic>
          <a:graphicData uri="http://schemas.openxmlformats.org/drawingml/2006/table">
            <a:tbl>
              <a:tblPr/>
              <a:tblGrid>
                <a:gridCol w="3017520"/>
                <a:gridCol w="2651760"/>
                <a:gridCol w="26517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818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Função na produção de tinta líquida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818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Equipamento específico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818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 tinta em pó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Dispersão de pigmento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Moinho de pérolas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Extrusor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Mistura de componentes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Misturador de dois componentes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Extrusor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Conformação do produto final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Estampagem (embalagem)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Extrusor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3218688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equipamento  ·  3 funções simultâneas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457200" y="3657600"/>
            <a:ext cx="8321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único equipamento substitui o moinho, o misturador e o conformador. O extrusor não processa uma formulação já pronta — ele é a própria formulação. Provavelmente o equipamento com maior densidade funcional por metro cúbico em toda a cadeia estudada nos três seminários.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5544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57200" y="274320"/>
            <a:ext cx="2286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21208" y="256032"/>
            <a:ext cx="8257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APRENDEMOS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 — 3 pontos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133856"/>
            <a:ext cx="8321040" cy="0"/>
          </a:xfrm>
          <a:prstGeom prst="line">
            <a:avLst/>
          </a:prstGeom>
          <a:noFill/>
          <a:ln w="9525">
            <a:solidFill>
              <a:srgbClr val="E4E4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61872"/>
            <a:ext cx="2743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618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77824" y="1261872"/>
            <a:ext cx="79004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processos sem cavaco chegam ao núcleo do produto.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77824" y="1554480"/>
            <a:ext cx="790041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Extrusão fabrica a tinta em pó. Metalurgia do pó sintetiza os pigmentos metálicos. Laminação, estampagem, injeção e sopro fabricam cada embalagem que o usuário segura.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322576"/>
            <a:ext cx="2743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32257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77824" y="2322576"/>
            <a:ext cx="79004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conjuntos de critérios, dois papéis distintos.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77824" y="2615184"/>
            <a:ext cx="790041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camada de produto, os parâmetros são físico-químicos (morfologia, pureza, crosslinking). Na camada de embalagem, são mecânicos e regulatórios (estanqueidade, resistência química, testes UN).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383280"/>
            <a:ext cx="2743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383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77824" y="3383280"/>
            <a:ext cx="79004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indústria de tintas vista em três seminários.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77824" y="3675888"/>
            <a:ext cx="790041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Usinagem convencional garante precisão dos equipamentos. Métodos não convencionais intervêm na síntese e preparação de superfícies. Processos sem cavaco fabricam a tinta, o pigmento e a embalagem.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617720"/>
            <a:ext cx="2286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4626864"/>
            <a:ext cx="8211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fabricação mecânica e a química de tintas não são mundos separados. São a mesma cadeia.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5544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34747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86968"/>
            <a:ext cx="8321040" cy="0"/>
          </a:xfrm>
          <a:prstGeom prst="line">
            <a:avLst/>
          </a:prstGeom>
          <a:noFill/>
          <a:ln w="9525">
            <a:solidFill>
              <a:srgbClr val="E4E4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8321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GROOVER, M. P. Fundamentals of Modern Manufacturing. 5. ed. Wiley, 2013.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1472184"/>
            <a:ext cx="8321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KALPAKJIAN, S.; SCHMID, S. R. Manufacturing Engineering and Technology. 7. ed. Pearson, 2014.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938528"/>
            <a:ext cx="8321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MISEV, T. A.; VAN DER LINDE, R. Powder coatings, the future technology. Progress in Organic Coatings, v. 34, 1998.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2404872"/>
            <a:ext cx="8321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SMITH, W. F. Foundations of Materials Science and Engineering. 3. ed. McGraw-Hill, 2002.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871216"/>
            <a:ext cx="8321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HARE, C. H. Zinc-rich coatings. Journal of Protective Coatings and Linings, v. 17, n. 4, 2000.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3337560"/>
            <a:ext cx="8321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HANLON, J. F.; KELSEY, R. J.; FORCINIO, H. E. Handbook of Package Engineering. 3. ed. CRC Press, 1998.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803904"/>
            <a:ext cx="8321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ABRAFATI. Relatório setorial 2024. São Paulo, 2024.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4270248"/>
            <a:ext cx="8321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SSPC Paint 20: Zinc-rich coating (Type I and Type II). Pittsburgh: SSPC, 2019.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Processos sem remoção de cavaco na indústria de tintas e pigmentos</dc:title>
  <dc:subject>PptxGenJS Presentation</dc:subject>
  <dc:creator>Victor Hugo da Silva Costa</dc:creator>
  <cp:lastModifiedBy>Victor Hugo da Silva Costa</cp:lastModifiedBy>
  <cp:revision>1</cp:revision>
  <dcterms:created xsi:type="dcterms:W3CDTF">2026-05-26T17:05:00Z</dcterms:created>
  <dcterms:modified xsi:type="dcterms:W3CDTF">2026-05-26T17:05:00Z</dcterms:modified>
</cp:coreProperties>
</file>